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Toy-bubble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 i="1">
                <a:solidFill>
                  <a:srgbClr val="CADCFC"/>
                </a:solidFill>
                <a:latin typeface="Calibri"/>
              </a:rPr>
              <a:t>e-NRTL → bubble thermodynamics in water electrolysis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AEC6CF"/>
                </a:solidFill>
                <a:latin typeface="Calibri"/>
              </a:rPr>
              <a:t>Mathematical framework for bubble_enrtl_toy.py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Nomenclature follows the Grok draft and standard electrolyte-thermodynamics literature.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Four-layer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0515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Symmetric-reference e-NRTL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05156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→  G^ex(T, P, {N_i}),  μ_i,  a_w,  γ_±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10058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3172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Butler surface-tension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→  γ(m) = σ(m)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10058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Axisymmetric Young–Laplace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→  bubble profile,  V_d,  r_cl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46319"/>
            <a:ext cx="10058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46319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92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VLE &amp; nucleation in H₂ bubble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92039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→  y_H2,  P_bub,  r*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Thermodynamic definition of surface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Starting point  ·  Grok p.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1a6283930f836ac2c76c1f02415a4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18" y="2011680"/>
            <a:ext cx="8269061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555555"/>
                </a:solidFill>
                <a:latin typeface="Calibri"/>
              </a:rPr>
              <a:t>Goal of Layer B: realise this derivative without a Langmuir fit, by placing the same e-NRTL model on both sides of the liquid–gas interface (Butler equation).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Nomenclature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47118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6615952"/>
                <a:gridCol w="2425849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T, 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temperature, pressure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K, Pa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Nᵢ, nᵢ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amount (extensive, molar) of species i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mol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xᵢ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mole fraction of species 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salt molality (mol / kg water)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mol kg⁻¹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zᵢ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signed charge of ion 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ν₊, ν₋, ν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stoichiometric coefficients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I_x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ionic strength, mole-fraction basis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I_m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ionic strength, molality basis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mol kg⁻¹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Debye–Hückel parameter (water, 298 K) ≈ 0.392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PDH closest-approach parameter = 14.9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α_ij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NRTL non-randomness factor (fixed = 0.2)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τ_ij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NRTL binary interaction parameter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049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G_ij = exp(–ατ)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NRTL local-composition factor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Nomenclature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47118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6615952"/>
                <a:gridCol w="2425849"/>
              </a:tblGrid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G^ex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total excess Gibbs energy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μᵢ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chemical potential of species i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J mol⁻¹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aᵢ = xᵢ γᵢ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activity of species 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γ_±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mean ionic activity coefficient (molality basis)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a_w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water activity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φ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osmotic coefficient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γ = 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surface tension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 m⁻¹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Aᵢ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partial molar surface area of species i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m² mol⁻¹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σᵢ⁰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surface tension of (hypothetical) pure component 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 m⁻¹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k_H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Henry's constant (solubility form), c = k_H p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mol kg⁻¹ Pa⁻¹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k_s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Sechenov (salting-out) coefficient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 mol⁻¹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R_bub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bubble radius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θ_g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contact angle through the gas phase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V_d, D_d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detachment volume, diameter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m³, m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r*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critical nucleation radius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3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S, S₀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supersaturation (effective / reference)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Subscripts:  c = cation,  a = anion,  w = water/solvent,  s = lumped salt,  B = bulk,  S = surface phase,  0 = reference / pure-water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A — Symmetric-reference e-NRTL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4937760"/>
          </a:xfrm>
          <a:prstGeom prst="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0584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Total molar Gibbs energy Gʲ = ideal + PDH + NRTL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Long-range: Pitzer–Debye–Hückel (symmetric, mole-fraction)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Short-range: local-composition NRTL (lumped-salt form)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Chemical potentials from ∂G^ex/∂nᵢ (symmetric finite difference)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Water activity a_w and osmotic coefficient φ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95C"/>
                </a:solidFill>
                <a:latin typeface="Calibri"/>
              </a:rPr>
              <a:t>• Mean ionic activity coefficient γ_±(m) via Gibbs–Duhem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§1.1  Total molar Gibbs energy of liquid phase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Modern symmetric convention (Chen / Song &amp; Chen, Aspen-style):</a:t>
            </a:r>
          </a:p>
        </p:txBody>
      </p:sp>
      <p:pic>
        <p:nvPicPr>
          <p:cNvPr id="7" name="Picture 6" descr="224381230cc33df1fa62b79ef1c3f7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722798"/>
            <a:ext cx="9601200" cy="5894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Excess part decomposed into a long-range Pitzer–Debye–Hückel term and a short-range local-composition (NRTL) term.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§1.2  Long-range Pitzer–Debye–Hückel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Symmetric reference on mole-fraction basis (Chen &amp; Evans 1986; Song &amp; Chen 2009):</a:t>
            </a:r>
          </a:p>
        </p:txBody>
      </p:sp>
      <p:pic>
        <p:nvPicPr>
          <p:cNvPr id="7" name="Picture 6" descr="9133a7ea6afff34a6d92511fa1e0c7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6" y="1371600"/>
            <a:ext cx="9151364" cy="1463040"/>
          </a:xfrm>
          <a:prstGeom prst="rect">
            <a:avLst/>
          </a:prstGeom>
        </p:spPr>
      </p:pic>
      <p:pic>
        <p:nvPicPr>
          <p:cNvPr id="8" name="Picture 7" descr="c4f3ee4a80a5fd2e41be81ae5b2559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361673"/>
            <a:ext cx="9601200" cy="5918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Recovers DH limiting law  ln γ_± → –|z₊z₋| Aφ √I_m  as m → 0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Responsible for the initial droop of γ_± (Fig. 1)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Carries the charge structure → KOH vs H₂SO₄ diverge already at low m (Fig. 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§1.3  Short-range local-composition NRTL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Single strong electrolyte + solvent with lumped-salt symmetric form; X_s = x_c + x_a:</a:t>
            </a:r>
          </a:p>
        </p:txBody>
      </p:sp>
      <p:pic>
        <p:nvPicPr>
          <p:cNvPr id="7" name="Picture 6" descr="9495562fc0af54a28f5819ec78aa8c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758561"/>
            <a:ext cx="9601200" cy="1420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G_{ij} = exp(–α τ_{ij}),  α = 0.2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Two parameters per salt: τ_{sw} (salt→solvent) and τ_{ws} (solvent→salt)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Like-ion repulsion enforced by lumping ion pair → τ_{cc} = τ_{aa} = 0 by construction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§1.3  Toy-level caveat on the lumped-salt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1064240" cy="5303520"/>
          </a:xfrm>
          <a:prstGeom prst="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Why the lumped form suffices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95C"/>
                </a:solidFill>
                <a:latin typeface="Calibri"/>
              </a:rPr>
              <a:t>• Full Chen symmetric e-NRTL keeps cation &amp; anion as separate interacting species, with charge-weighted effective mole fractions X_i = |z_i| x_i for ions.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95C"/>
                </a:solidFill>
                <a:latin typeface="Calibri"/>
              </a:rPr>
              <a:t>• That gives slightly different short-range non-ideality for asymmetric salts (e.g. H₂SO₄).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95C"/>
                </a:solidFill>
                <a:latin typeface="Calibri"/>
              </a:rPr>
              <a:t>• We adopt the lumped form because: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95C"/>
                </a:solidFill>
                <a:latin typeface="Calibri"/>
              </a:rPr>
              <a:t>•    (i) the PDH part already carries the dominant charge-asymmetry at low–moderate m.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95C"/>
                </a:solidFill>
                <a:latin typeface="Calibri"/>
              </a:rPr>
              <a:t>•    (ii) ion-pair parameters for single-solvent binaries are effectively indistinguishable in their observable consequences (γ_±, a_w, φ) — they would just recalibrate.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§1.4  Chemical potentials and activity coefficients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b8931b633f3031335109b35c29065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446" y="1188720"/>
            <a:ext cx="5805204" cy="1645920"/>
          </a:xfrm>
          <a:prstGeom prst="rect">
            <a:avLst/>
          </a:prstGeom>
        </p:spPr>
      </p:pic>
      <p:pic>
        <p:nvPicPr>
          <p:cNvPr id="7" name="Picture 6" descr="c44593d6b3dea7852e83cdfe20ee00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193" y="3383280"/>
            <a:ext cx="7717711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035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In the code these partials are computed by symmetric finite difference on the extensive G^ex (chemical_potentials in bubble_enrtl_toy.py). Sidesteps hand-derivation errors; stable well below 1 mol/kg.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§1.5  Water activity and osmotic coefficient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At molality m with  n_w = 1000 / M_w  mol water per kg:</a:t>
            </a:r>
          </a:p>
        </p:txBody>
      </p:sp>
      <p:pic>
        <p:nvPicPr>
          <p:cNvPr id="7" name="Picture 6" descr="98572687f63cc0ba80ec1d8ee17ff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593445"/>
            <a:ext cx="9601200" cy="1031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§1.6  Mean ionic activity coefficient via Gibbs–Duhem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To avoid the unsymmetric-to-molality reference-state transformation, integrate the solvent activity:</a:t>
            </a:r>
          </a:p>
        </p:txBody>
      </p:sp>
      <p:pic>
        <p:nvPicPr>
          <p:cNvPr id="7" name="Picture 6" descr="1f20a601694de12268b02bbdf9e825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414329"/>
            <a:ext cx="9601200" cy="1023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Gives γ_± on the standard molality basis (pure water at infinite dilution = reference)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Integral evaluated with scipy.integrate.cumulative_trapezoid on a 40-point molality grid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B — Butler surface-tension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429049c65db38ffb56c90ee2f39a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436" y="1188720"/>
            <a:ext cx="5403224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For a flat liquid–gas interface in LTE with the bulk, the chemical potential of each species equals in the surface phase (S) and bulk (B). One Butler equation per species:</a:t>
            </a:r>
          </a:p>
        </p:txBody>
      </p:sp>
      <p:pic>
        <p:nvPicPr>
          <p:cNvPr id="8" name="Picture 7" descr="dd0204a48c56b89b12bce8141f33d1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80" y="4526280"/>
            <a:ext cx="593153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§2.2  Butler equation — system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2377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1295C"/>
                </a:solidFill>
                <a:latin typeface="Calibri"/>
              </a:rPr>
              <a:t>• For binary water + lumped-salt: a 2×2 system in (σ, x_s^S)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1295C"/>
                </a:solidFill>
                <a:latin typeface="Calibri"/>
              </a:rPr>
              <a:t>• σ eliminated by equating the water and salt equations → one nonlinear equation in x_s^S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1295C"/>
                </a:solidFill>
                <a:latin typeface="Calibri"/>
              </a:rPr>
              <a:t>• Solved with scipy.optimize.brentq in butler_surface_tension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1295C"/>
                </a:solidFill>
                <a:latin typeface="Calibri"/>
              </a:rPr>
              <a:t>• Reference: Butler, Proc. R. Soc. A 135, 348 (1932)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§2.3  Activity coefficients at the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21945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Li &amp; Lu family (Langmuir 17, 3532, 2001; Hu &amp; Lee FPE 158, 1043, 1999) couple surface phase to its OWN e-NRTL at surface composition.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TOY approximation: γ_i^S(x^S) = γ_i^B(x = x^S) — the same e-NRTL evaluated at the surface composition.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Preserves the Butler structure and gets the trend right; full surface-phase recalibration is a later refinement.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§2.4  Partial molar surface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Stefan–Guggenheim / Sprow–Prausnitz form:</a:t>
            </a:r>
          </a:p>
        </p:txBody>
      </p:sp>
      <p:pic>
        <p:nvPicPr>
          <p:cNvPr id="7" name="Picture 6" descr="97ace8afb431b433a5bec88585a02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126538"/>
            <a:ext cx="9601200" cy="1233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V_i  =  partial molar volume.   Numerical values used in the toy are tabulated in §5.2.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C — Axisymmetric Young–Laplace shape &amp; detachment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4937760"/>
          </a:xfrm>
          <a:prstGeom prst="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Young–Laplace ODE in arc-length parameterisation (from the apex)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Contact-angle boundary condition through the gas phase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Fritz-type quasi-static detachment force balance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Solve for detachment volume V_d(σ, θ_g) and diameter D_d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§3.1  Young–Laplace ODE (sessile bubble)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Bubble on horizontal solid at z = 0, apex at z = H, buoyancy lifting upward. Arc-length s parameterisation from the apex:</a:t>
            </a:r>
          </a:p>
        </p:txBody>
      </p:sp>
      <p:pic>
        <p:nvPicPr>
          <p:cNvPr id="7" name="Picture 6" descr="488cdef6950ea192b99eec223e09ba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325466"/>
            <a:ext cx="9601200" cy="835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z_d = H – z  (depth below apex);  b = apex radius of curvature (shooting parameter)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β = (ρ_l – ρ_g) g / σ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IC:  r(0)=0,  z_d(0)=0,  φ(0)=0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Near-apex seeding with spherical expansion  r ≈ b sin(s/b),  z_d ≈ b(1–cos(s/b))  to avoid the r=0 singularity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§3.2  Contact-angle boundary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Contact angle θ_g measured THROUGH the gas phase at the three-phase line. The contact line is reached when the tangent angle satisfies:</a:t>
            </a:r>
          </a:p>
        </p:txBody>
      </p:sp>
      <p:pic>
        <p:nvPicPr>
          <p:cNvPr id="7" name="Picture 6" descr="d43b6dd05bc0c36cd1d27338ea964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2" y="2331720"/>
            <a:ext cx="5359893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Integration terminates on this event (event_phi in young_laplace_shape)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Secondary event catches pinch-off  (r → 0 again)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§3.3  Fritz-type detachment force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Quasi-static detachment: buoyancy lifting the bubble equals the vertical component of surface tension at the pinning line</a:t>
            </a:r>
          </a:p>
        </p:txBody>
      </p:sp>
      <p:pic>
        <p:nvPicPr>
          <p:cNvPr id="7" name="Picture 6" descr="acddf90ffad1ca716a65e900165877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182634"/>
            <a:ext cx="9601200" cy="1121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(Fritz, Phys. Z. 36, 379, 1935)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201168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Rooted on the shooting parameter b;  detachment_volume scans b over a multiple of the capillary length  ℓ_c = √(σ / Δρ g)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Brackets the sign change and refines with brentq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Output:  V_d(σ, θ_g)  and  D_d = (6 V_d / π)¹ᐟ³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D — VLE and nucleation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§4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4937760"/>
          </a:xfrm>
          <a:prstGeom prst="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Effective Henry's constant with salting-out (Sechenov OR a_w form)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Bubble composition: Raoult for water + Laplace for P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1295C"/>
                </a:solidFill>
                <a:latin typeface="Calibri"/>
              </a:rPr>
              <a:t>• Critical nucleation radius r*(m) from Young–Laplace balance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§4.1  Effective Henry's constant (salting-out)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Two standard options, both produce the same trend in the toy:</a:t>
            </a:r>
          </a:p>
        </p:txBody>
      </p:sp>
      <p:pic>
        <p:nvPicPr>
          <p:cNvPr id="7" name="Picture 6" descr="2fcec2cbed61ed28a8889e3bb97d8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71" y="1645920"/>
            <a:ext cx="9548154" cy="1097280"/>
          </a:xfrm>
          <a:prstGeom prst="rect">
            <a:avLst/>
          </a:prstGeom>
        </p:spPr>
      </p:pic>
      <p:pic>
        <p:nvPicPr>
          <p:cNvPr id="8" name="Picture 7" descr="37f8026436fe33ae802406469c147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231031"/>
            <a:ext cx="9601200" cy="8531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Sechenov uses tabulated k_s values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Water-activity form uses a_w from the same e-NRTL — no extra parameter beyond §1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Either route shifts solubility of a neutral gas (H₂) through the non-ideal water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§4.2  Bubble composition  (H₂ + H₂O vapour)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Raoult with activity for water + Laplace for total pressure:</a:t>
            </a:r>
          </a:p>
        </p:txBody>
      </p:sp>
      <p:pic>
        <p:nvPicPr>
          <p:cNvPr id="7" name="Picture 6" descr="d363c386b41a1ec19ac1fe780cf6b8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931102"/>
            <a:ext cx="9601200" cy="7214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§4.3  Critical nucleation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Layer 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At fixed dissolved-H₂ corresponding to reference supersaturation S₀ in pure water, the effective local supersaturation in salty electrolyte is:</a:t>
            </a:r>
          </a:p>
        </p:txBody>
      </p:sp>
      <p:pic>
        <p:nvPicPr>
          <p:cNvPr id="7" name="Picture 6" descr="728b34a5d2da2df64e71b81ba5af79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599" y="1737360"/>
            <a:ext cx="4522899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Young–Laplace critical radius:</a:t>
            </a:r>
          </a:p>
        </p:txBody>
      </p:sp>
      <p:pic>
        <p:nvPicPr>
          <p:cNvPr id="9" name="Picture 8" descr="eb411045378ed193ed4eb60cf908bb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229" y="3749040"/>
            <a:ext cx="5793638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The compound behaviour of σ(m) ↑ and S_eff(m) ↑ pulls r* down sharply as m rises (Fig. 5 right panel).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§5.1  e-NRTL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332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z_c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z_a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ν_c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ν_a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τ_sw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τ_ws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KOH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−4.5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H₂SO₄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−2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−5.2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1097280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Values are representative — tuned only to give qualitatively correct γ_±(m) and a_w(m) shapes:</a:t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   •  DH droop at small m</a:t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   •  NRTL rebound at large m</a:t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Published Aspen-style parameters for KOH–H₂O (Thomsen &amp; Rasmussen, Chem. Eng. Sci. 54, 1787, 1999) should replace these once quantitative fidelity is wanted.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§5.2  Butler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3099816"/>
                <a:gridCol w="3099816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Species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σᵢ⁰ (N/m)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Aᵢ (m² mol⁻¹)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Vᵢ (m³ mol⁻¹)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H₂O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0.07197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6.30×10⁴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1.80×10⁻⁵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KOH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0.170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8.40×10⁴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2.70×10⁻⁵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H₂SO₄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1.31×10⁵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5.30×10⁻⁵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§5.3  Henry, salting-out, nucleation  ·  §5.4 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713231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017"/>
                <a:gridCol w="2276272"/>
                <a:gridCol w="303502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k_H⁰ (H₂, 25°C)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7.8×10⁻⁹ mol kg⁻¹ Pa⁻¹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Sander, Atmos. Chem. Phys. 15, 4399 (2015)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k_s (KOH)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0.134 L mol⁻¹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≈ Sechenov coefficient for H₂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k_s (H₂SO₄)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0.099 L mol⁻¹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≈ Sechenov coefficient for H₂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θ_g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30°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hydrophobic cavity, Raman-setup-like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reference supersaturation in pure water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86868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§5.4  General conditions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280160"/>
          <a:ext cx="4206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298.15 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P_atm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1.01325×10⁵ Pa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ρ_l (water, 25°C)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997.05 kg m⁻³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ρ_g (H₂, 25°C, 1 bar)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0.0899 kg m⁻³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p_sat(T), 25°C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3169 Pa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72000"/>
            <a:ext cx="115214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These constants define the reference state used throughout the toy. T and P_atm fix the e-NRTL and Butler evaluations; ρ_l, ρ_g feed the Young–Laplace shape (β = (ρ_l − ρ_g) g / σ) and the Fritz detachment balance; p_sat(T) sets the water partial pressure in the bubble (§4.2).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§6  Salt vs. ions vs. electric field — what the toy captures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Common confusion: “you're varying salt molality, not ion concentration or electric field — aren't those the bigger effects?”  For a single, fully dissociated strong electrolyte these three are NOT independent.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Ion concentration is set by salt molality via stoichiometry: c₊ = ν₊m,  c₋ = ν₋m. KOH at 3 mol/kg means 3 mol/kg K⁺ AND 3 mol/kg OH⁻. Varying m IS varying ion concentration.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Ionic strength: I_m = ½ Σ νᵢ zᵢ² m. For KOH, I_m = m; for H₂SO₄, I_m = 3m. PDH (§1.2) captures this exactly — that is why KOH and H₂SO₄ diverge in Fig. 1.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Ion-identity effects beyond ionic strength come from the e-NRTL short-range τ parameters. Plotting σ vs I_m does NOT collapse the two salts onto one curve (Fig. 6 right panel) — specific-ion behaviour is real and captured by e-NRTL.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§6  Electric-field / double-layer effects are NOT in this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789920" cy="3657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They act at the ELECTRODE–electrolyte interface (polarised Pt), through: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  •  Gouy–Chapman–Stern diffuse-layer structure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  •  Lippmann equation,  ∂σ/∂E = –q_s,  linking electrode surface charge to electrocapillary depression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  •  Frumkin correction to activation overpotential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The bubble–electrolyte interface here is NOT polarised in the same way.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It carries a weak ζ-potential (typically −30 to −50 mV for H₂ bubbles in water) from preferential ion adsorption — implicit in the Butler surface-phase composition.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A full treatment of electric-field effects on σ would add a Lippmann term:</a:t>
            </a:r>
          </a:p>
        </p:txBody>
      </p:sp>
      <p:pic>
        <p:nvPicPr>
          <p:cNvPr id="8" name="Picture 7" descr="bddfef1d9f33e26b13058e9421e218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826" y="5120640"/>
            <a:ext cx="6462444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§7  Known limitations and extensions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1142999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511"/>
                <a:gridCol w="4362595"/>
                <a:gridCol w="6543893"/>
              </a:tblGrid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Simplification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 to improvement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“Lumped-salt” NRTL (not full Chen-symmetric)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 Chen 1986 / Aspen symmetric e-NRTL (two τ pairs per ion-solvent pair)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Bulk e-NRTL used for surface activities in Butler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Couple a surface-phase e-NRTL as in Li &amp; Lu 2001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τ parameters chosen by trend, not fitted to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Published Aspen parameters (Thomsen &amp; Rasmussen 1999 KOH–H₂O; Clegg &amp; Brimblecombe 1995 H₂SO₄–H₂O)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Fritz-style vertical-force detachment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Pinch-off from the actual YL shape (watch r_neck → 0)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Quasi-static bubble (no inertia / drag / Marangoni)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Couple σ(m) into dynamic integrators in ddgclib/dynamic_integrators/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§7  Known limitations and extensions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1142999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511"/>
                <a:gridCol w="4362595"/>
                <a:gridCol w="6543893"/>
              </a:tblGrid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Simplification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 to improvement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 double-layer / electrocapillarity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Add Lippmann correction to σ at polarised surface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Sechenov form for salting-out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Derive salting-out directly from e-NRTL activity coefficient of dissolved H₂ (needs τ parameters for H₂–water and H₂–ion)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Ideal-gas bubble (no H₂ fugacity correction)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Peng–Robinson or similar EoS for φ_H₂(T,P)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Single solvent (water)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Extend to mixed solvents (water + methanol etc. for CO₂ electrolysis)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Constant T, 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Add T, P dependence of all parameters (heavy but mechanical)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§8  Primary literature the toy comments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37160" cy="2468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libri"/>
              </a:rPr>
              <a:t>Sepahi et al. (2022) — the “Krug paper”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effect of buoyancy-driven convection on the growth and dissolution of bubbles on electrodes. Electrochim. Acta 403, 139616.  doi:10.1016/j.electacta.2021.139616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→  linear β, ideal gas, constant k_H, no composition-dependent 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37160" cy="2468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789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libri"/>
              </a:rPr>
              <a:t>Raman et al. (2022) — the “Rivas paper”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789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Potential response of single successive constant-current-driven electrolytic hydrogen bubbles spatially separated from the electrode. Electrochim. Acta 425, 140691.  doi:10.1016/j.electacta.2022.140691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→  fixed σ = 72 mN/m; concentration overpotential inferred by subtraction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§8  Thermodynamic model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1142999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49"/>
                <a:gridCol w="3048000"/>
                <a:gridCol w="6191250"/>
              </a:tblGrid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Butler, J. A. V.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Proc. R. Soc. A 135, 348 (1932)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Butler equation for surface tension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Chen, C.-C., Evans, L. B.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AIChE J. 32, 444 (1986)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symmetric e-NRTL (local composition, excess Gibbs energy)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Song, Y., Chen, C.-C.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Ind. Eng. Chem. Res. 48, 7788 (2009)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modern symmetric 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Li, Z.-B., Lu, B. C.-Y.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Langmuir 17, 3532 (2001)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Butler + e-NRTL coupling, aqueous electrolyte surface tensions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Hu, Y.-F., Lee, H.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Fluid Phase Equil. 158-160, 1043 (1999)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surface-phase formulation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Thomsen, K., Rasmussen, P.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Chem. Eng. Sci. 54, 1787 (1999)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published KOH–H₂O Aspen-style parameters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Fritz, W.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Phys. Z. 36, 379 (1935)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detachment force balance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Sechenov, I. M.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Z. Phys. Chem. 4, 117 (1889)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salting-out linear correlation</a:t>
                      </a:r>
                    </a:p>
                  </a:txBody>
                  <a:tcPr marL="54864" marR="54864" marT="27432" marB="27432">
                    <a:solidFill>
                      <a:srgbClr val="EAF1F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Sander, R.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Atmos. Chem. Phys. 15, 4399 (2015)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compilation of Henry's law constants (H₂, water)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